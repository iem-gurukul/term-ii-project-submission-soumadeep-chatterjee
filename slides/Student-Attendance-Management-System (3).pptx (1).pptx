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unito Bold" charset="1" panose="00000000000000000000"/>
      <p:regular r:id="rId15"/>
    </p:embeddedFont>
    <p:embeddedFont>
      <p:font typeface="PT Sans Bold" charset="1" panose="020B0703020203020204"/>
      <p:regular r:id="rId16"/>
    </p:embeddedFont>
    <p:embeddedFont>
      <p:font typeface="PT Sans" charset="1" panose="020B0503020203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05159" y="3124048"/>
            <a:ext cx="9335691" cy="178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Student Attendance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05159" y="5266134"/>
            <a:ext cx="9335691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Problem Statement: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Manual attendance tracking is time-consuming, error-prone, and difficult to manage efficiently.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05159" y="6560191"/>
            <a:ext cx="9335691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true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Target Users: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Schools, Colleges, Teachers, and Training Institutes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69152" y="601603"/>
            <a:ext cx="5784198" cy="742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1"/>
              </a:lnSpc>
            </a:pPr>
            <a:r>
              <a:rPr lang="en-US" sz="4544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System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4047" y="1204206"/>
            <a:ext cx="4517816" cy="53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188" b="true">
                <a:solidFill>
                  <a:srgbClr val="2D4DF2"/>
                </a:solidFill>
                <a:latin typeface="Nunito Bold"/>
                <a:ea typeface="Nunito Bold"/>
                <a:cs typeface="Nunito Bold"/>
                <a:sym typeface="Nunito Bold"/>
              </a:rPr>
              <a:t>High-Level Architecture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45784" y="1953663"/>
            <a:ext cx="2911831" cy="3989337"/>
            <a:chOff x="0" y="0"/>
            <a:chExt cx="3882442" cy="53191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3882454" cy="5319141"/>
            </a:xfrm>
            <a:custGeom>
              <a:avLst/>
              <a:gdLst/>
              <a:ahLst/>
              <a:cxnLst/>
              <a:rect r="r" b="b" t="t" l="l"/>
              <a:pathLst>
                <a:path h="5319141" w="3882454">
                  <a:moveTo>
                    <a:pt x="0" y="0"/>
                  </a:moveTo>
                  <a:lnTo>
                    <a:pt x="3882454" y="0"/>
                  </a:lnTo>
                  <a:lnTo>
                    <a:pt x="3882454" y="5319141"/>
                  </a:lnTo>
                  <a:lnTo>
                    <a:pt x="0" y="5319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08" r="0" b="-480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93054" y="6047118"/>
            <a:ext cx="4094749" cy="3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33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Key Classes &amp; Responsibilities: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64047" y="6550371"/>
            <a:ext cx="11429546" cy="90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Student → Stores student data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AttendanceRecord → Stores attendance details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AttendanceDAO → Handles file operations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AttendanceService → Business logic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Main → User interface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62127" y="7653684"/>
            <a:ext cx="2727649" cy="35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096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Package Structure: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93054" y="8125120"/>
            <a:ext cx="11100539" cy="108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model → Data classes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dao → File handling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service → Logic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exception → Custom errors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ui → Interface</a:t>
            </a:r>
          </a:p>
          <a:p>
            <a:pPr algn="l" marL="179090" indent="-89545" lvl="1">
              <a:lnSpc>
                <a:spcPts val="1437"/>
              </a:lnSpc>
              <a:buFont typeface="Arial"/>
              <a:buChar char="•"/>
            </a:pPr>
            <a:r>
              <a:rPr lang="en-US" sz="118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main → Entry point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2233022"/>
            <a:ext cx="7040613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18CE1"/>
                </a:solidFill>
                <a:latin typeface="Nunito Bold"/>
                <a:ea typeface="Nunito Bold"/>
                <a:cs typeface="Nunito Bold"/>
                <a:sym typeface="Nunito Bold"/>
              </a:rPr>
              <a:t>OOP Concepts Used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32872" y="3725761"/>
            <a:ext cx="5226996" cy="2260997"/>
            <a:chOff x="0" y="0"/>
            <a:chExt cx="6969328" cy="30146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9050" y="19050"/>
              <a:ext cx="6931152" cy="2976499"/>
            </a:xfrm>
            <a:custGeom>
              <a:avLst/>
              <a:gdLst/>
              <a:ahLst/>
              <a:cxnLst/>
              <a:rect r="r" b="b" t="t" l="l"/>
              <a:pathLst>
                <a:path h="2976499" w="6931152">
                  <a:moveTo>
                    <a:pt x="0" y="598424"/>
                  </a:moveTo>
                  <a:cubicBezTo>
                    <a:pt x="0" y="267970"/>
                    <a:pt x="269875" y="0"/>
                    <a:pt x="602742" y="0"/>
                  </a:cubicBezTo>
                  <a:lnTo>
                    <a:pt x="6328410" y="0"/>
                  </a:lnTo>
                  <a:cubicBezTo>
                    <a:pt x="6661277" y="0"/>
                    <a:pt x="6931152" y="267970"/>
                    <a:pt x="6931152" y="598424"/>
                  </a:cubicBezTo>
                  <a:lnTo>
                    <a:pt x="6931152" y="2378075"/>
                  </a:lnTo>
                  <a:cubicBezTo>
                    <a:pt x="6931152" y="2708529"/>
                    <a:pt x="6661277" y="2976499"/>
                    <a:pt x="6328410" y="2976499"/>
                  </a:cubicBezTo>
                  <a:lnTo>
                    <a:pt x="602742" y="2976499"/>
                  </a:lnTo>
                  <a:cubicBezTo>
                    <a:pt x="269875" y="2976499"/>
                    <a:pt x="0" y="2708529"/>
                    <a:pt x="0" y="2378075"/>
                  </a:cubicBezTo>
                  <a:close/>
                </a:path>
              </a:pathLst>
            </a:custGeom>
            <a:solidFill>
              <a:srgbClr val="F3F3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69252" cy="3014599"/>
            </a:xfrm>
            <a:custGeom>
              <a:avLst/>
              <a:gdLst/>
              <a:ahLst/>
              <a:cxnLst/>
              <a:rect r="r" b="b" t="t" l="l"/>
              <a:pathLst>
                <a:path h="3014599" w="6969252">
                  <a:moveTo>
                    <a:pt x="0" y="617474"/>
                  </a:moveTo>
                  <a:cubicBezTo>
                    <a:pt x="0" y="276352"/>
                    <a:pt x="278511" y="0"/>
                    <a:pt x="621792" y="0"/>
                  </a:cubicBezTo>
                  <a:lnTo>
                    <a:pt x="6347460" y="0"/>
                  </a:lnTo>
                  <a:lnTo>
                    <a:pt x="6347460" y="19050"/>
                  </a:lnTo>
                  <a:lnTo>
                    <a:pt x="6347460" y="0"/>
                  </a:lnTo>
                  <a:cubicBezTo>
                    <a:pt x="6690741" y="0"/>
                    <a:pt x="6969252" y="276352"/>
                    <a:pt x="6969252" y="617474"/>
                  </a:cubicBezTo>
                  <a:lnTo>
                    <a:pt x="6950202" y="617474"/>
                  </a:lnTo>
                  <a:lnTo>
                    <a:pt x="6969252" y="617474"/>
                  </a:lnTo>
                  <a:lnTo>
                    <a:pt x="6969252" y="2397125"/>
                  </a:lnTo>
                  <a:lnTo>
                    <a:pt x="6950202" y="2397125"/>
                  </a:lnTo>
                  <a:lnTo>
                    <a:pt x="6969252" y="2397125"/>
                  </a:lnTo>
                  <a:cubicBezTo>
                    <a:pt x="6969252" y="2738247"/>
                    <a:pt x="6690741" y="3014599"/>
                    <a:pt x="6347460" y="3014599"/>
                  </a:cubicBezTo>
                  <a:lnTo>
                    <a:pt x="6347460" y="2995549"/>
                  </a:lnTo>
                  <a:lnTo>
                    <a:pt x="6347460" y="3014599"/>
                  </a:lnTo>
                  <a:lnTo>
                    <a:pt x="621792" y="3014599"/>
                  </a:lnTo>
                  <a:lnTo>
                    <a:pt x="621792" y="2995549"/>
                  </a:lnTo>
                  <a:lnTo>
                    <a:pt x="621792" y="3014599"/>
                  </a:lnTo>
                  <a:cubicBezTo>
                    <a:pt x="278511" y="3014726"/>
                    <a:pt x="0" y="2738374"/>
                    <a:pt x="0" y="2397125"/>
                  </a:cubicBezTo>
                  <a:lnTo>
                    <a:pt x="0" y="617474"/>
                  </a:lnTo>
                  <a:lnTo>
                    <a:pt x="19050" y="617474"/>
                  </a:lnTo>
                  <a:lnTo>
                    <a:pt x="0" y="617474"/>
                  </a:lnTo>
                  <a:moveTo>
                    <a:pt x="38100" y="617474"/>
                  </a:moveTo>
                  <a:lnTo>
                    <a:pt x="38100" y="2397125"/>
                  </a:lnTo>
                  <a:lnTo>
                    <a:pt x="19050" y="2397125"/>
                  </a:lnTo>
                  <a:lnTo>
                    <a:pt x="38100" y="2397125"/>
                  </a:lnTo>
                  <a:cubicBezTo>
                    <a:pt x="38100" y="2717038"/>
                    <a:pt x="299339" y="2976499"/>
                    <a:pt x="621792" y="2976499"/>
                  </a:cubicBezTo>
                  <a:lnTo>
                    <a:pt x="6347460" y="2976499"/>
                  </a:lnTo>
                  <a:cubicBezTo>
                    <a:pt x="6670040" y="2976499"/>
                    <a:pt x="6931152" y="2716911"/>
                    <a:pt x="6931152" y="2397125"/>
                  </a:cubicBezTo>
                  <a:lnTo>
                    <a:pt x="6931152" y="617474"/>
                  </a:lnTo>
                  <a:cubicBezTo>
                    <a:pt x="6931279" y="297688"/>
                    <a:pt x="6670040" y="38100"/>
                    <a:pt x="6347460" y="38100"/>
                  </a:cubicBezTo>
                  <a:lnTo>
                    <a:pt x="621792" y="38100"/>
                  </a:lnTo>
                  <a:lnTo>
                    <a:pt x="621792" y="19050"/>
                  </a:lnTo>
                  <a:lnTo>
                    <a:pt x="621792" y="38100"/>
                  </a:lnTo>
                  <a:cubicBezTo>
                    <a:pt x="299339" y="38100"/>
                    <a:pt x="38100" y="297688"/>
                    <a:pt x="38100" y="617474"/>
                  </a:cubicBezTo>
                  <a:close/>
                </a:path>
              </a:pathLst>
            </a:custGeom>
            <a:solidFill>
              <a:srgbClr val="2D4DF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4877" y="4048716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Abstraction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4877" y="4591945"/>
            <a:ext cx="4542977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Service layer hides file handling logic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30426" y="3725761"/>
            <a:ext cx="5226996" cy="2260997"/>
            <a:chOff x="0" y="0"/>
            <a:chExt cx="6969328" cy="30146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6931152" cy="2976499"/>
            </a:xfrm>
            <a:custGeom>
              <a:avLst/>
              <a:gdLst/>
              <a:ahLst/>
              <a:cxnLst/>
              <a:rect r="r" b="b" t="t" l="l"/>
              <a:pathLst>
                <a:path h="2976499" w="6931152">
                  <a:moveTo>
                    <a:pt x="0" y="598424"/>
                  </a:moveTo>
                  <a:cubicBezTo>
                    <a:pt x="0" y="267970"/>
                    <a:pt x="269875" y="0"/>
                    <a:pt x="602742" y="0"/>
                  </a:cubicBezTo>
                  <a:lnTo>
                    <a:pt x="6328410" y="0"/>
                  </a:lnTo>
                  <a:cubicBezTo>
                    <a:pt x="6661277" y="0"/>
                    <a:pt x="6931152" y="267970"/>
                    <a:pt x="6931152" y="598424"/>
                  </a:cubicBezTo>
                  <a:lnTo>
                    <a:pt x="6931152" y="2378075"/>
                  </a:lnTo>
                  <a:cubicBezTo>
                    <a:pt x="6931152" y="2708529"/>
                    <a:pt x="6661277" y="2976499"/>
                    <a:pt x="6328410" y="2976499"/>
                  </a:cubicBezTo>
                  <a:lnTo>
                    <a:pt x="602742" y="2976499"/>
                  </a:lnTo>
                  <a:cubicBezTo>
                    <a:pt x="269875" y="2976499"/>
                    <a:pt x="0" y="2708529"/>
                    <a:pt x="0" y="2378075"/>
                  </a:cubicBezTo>
                  <a:close/>
                </a:path>
              </a:pathLst>
            </a:custGeom>
            <a:solidFill>
              <a:srgbClr val="F3F3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69252" cy="3014599"/>
            </a:xfrm>
            <a:custGeom>
              <a:avLst/>
              <a:gdLst/>
              <a:ahLst/>
              <a:cxnLst/>
              <a:rect r="r" b="b" t="t" l="l"/>
              <a:pathLst>
                <a:path h="3014599" w="6969252">
                  <a:moveTo>
                    <a:pt x="0" y="617474"/>
                  </a:moveTo>
                  <a:cubicBezTo>
                    <a:pt x="0" y="276352"/>
                    <a:pt x="278511" y="0"/>
                    <a:pt x="621792" y="0"/>
                  </a:cubicBezTo>
                  <a:lnTo>
                    <a:pt x="6347460" y="0"/>
                  </a:lnTo>
                  <a:lnTo>
                    <a:pt x="6347460" y="19050"/>
                  </a:lnTo>
                  <a:lnTo>
                    <a:pt x="6347460" y="0"/>
                  </a:lnTo>
                  <a:cubicBezTo>
                    <a:pt x="6690741" y="0"/>
                    <a:pt x="6969252" y="276352"/>
                    <a:pt x="6969252" y="617474"/>
                  </a:cubicBezTo>
                  <a:lnTo>
                    <a:pt x="6950202" y="617474"/>
                  </a:lnTo>
                  <a:lnTo>
                    <a:pt x="6969252" y="617474"/>
                  </a:lnTo>
                  <a:lnTo>
                    <a:pt x="6969252" y="2397125"/>
                  </a:lnTo>
                  <a:lnTo>
                    <a:pt x="6950202" y="2397125"/>
                  </a:lnTo>
                  <a:lnTo>
                    <a:pt x="6969252" y="2397125"/>
                  </a:lnTo>
                  <a:cubicBezTo>
                    <a:pt x="6969252" y="2738247"/>
                    <a:pt x="6690741" y="3014599"/>
                    <a:pt x="6347460" y="3014599"/>
                  </a:cubicBezTo>
                  <a:lnTo>
                    <a:pt x="6347460" y="2995549"/>
                  </a:lnTo>
                  <a:lnTo>
                    <a:pt x="6347460" y="3014599"/>
                  </a:lnTo>
                  <a:lnTo>
                    <a:pt x="621792" y="3014599"/>
                  </a:lnTo>
                  <a:lnTo>
                    <a:pt x="621792" y="2995549"/>
                  </a:lnTo>
                  <a:lnTo>
                    <a:pt x="621792" y="3014599"/>
                  </a:lnTo>
                  <a:cubicBezTo>
                    <a:pt x="278511" y="3014726"/>
                    <a:pt x="0" y="2738374"/>
                    <a:pt x="0" y="2397125"/>
                  </a:cubicBezTo>
                  <a:lnTo>
                    <a:pt x="0" y="617474"/>
                  </a:lnTo>
                  <a:lnTo>
                    <a:pt x="19050" y="617474"/>
                  </a:lnTo>
                  <a:lnTo>
                    <a:pt x="0" y="617474"/>
                  </a:lnTo>
                  <a:moveTo>
                    <a:pt x="38100" y="617474"/>
                  </a:moveTo>
                  <a:lnTo>
                    <a:pt x="38100" y="2397125"/>
                  </a:lnTo>
                  <a:lnTo>
                    <a:pt x="19050" y="2397125"/>
                  </a:lnTo>
                  <a:lnTo>
                    <a:pt x="38100" y="2397125"/>
                  </a:lnTo>
                  <a:cubicBezTo>
                    <a:pt x="38100" y="2717038"/>
                    <a:pt x="299339" y="2976499"/>
                    <a:pt x="621792" y="2976499"/>
                  </a:cubicBezTo>
                  <a:lnTo>
                    <a:pt x="6347460" y="2976499"/>
                  </a:lnTo>
                  <a:cubicBezTo>
                    <a:pt x="6670040" y="2976499"/>
                    <a:pt x="6931152" y="2716911"/>
                    <a:pt x="6931152" y="2397125"/>
                  </a:cubicBezTo>
                  <a:lnTo>
                    <a:pt x="6931152" y="617474"/>
                  </a:lnTo>
                  <a:cubicBezTo>
                    <a:pt x="6931279" y="297688"/>
                    <a:pt x="6670040" y="38100"/>
                    <a:pt x="6347460" y="38100"/>
                  </a:cubicBezTo>
                  <a:lnTo>
                    <a:pt x="621792" y="38100"/>
                  </a:lnTo>
                  <a:lnTo>
                    <a:pt x="621792" y="19050"/>
                  </a:lnTo>
                  <a:lnTo>
                    <a:pt x="621792" y="38100"/>
                  </a:lnTo>
                  <a:cubicBezTo>
                    <a:pt x="299339" y="38100"/>
                    <a:pt x="38100" y="297688"/>
                    <a:pt x="38100" y="617474"/>
                  </a:cubicBezTo>
                  <a:close/>
                </a:path>
              </a:pathLst>
            </a:custGeom>
            <a:solidFill>
              <a:srgbClr val="018CE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72440" y="4048716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Inheritance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72440" y="4591945"/>
            <a:ext cx="4542977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StudentNotFoundException extends Exception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27989" y="3725761"/>
            <a:ext cx="5227139" cy="2260997"/>
            <a:chOff x="0" y="0"/>
            <a:chExt cx="6969519" cy="30146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6931406" cy="2976499"/>
            </a:xfrm>
            <a:custGeom>
              <a:avLst/>
              <a:gdLst/>
              <a:ahLst/>
              <a:cxnLst/>
              <a:rect r="r" b="b" t="t" l="l"/>
              <a:pathLst>
                <a:path h="2976499" w="6931406">
                  <a:moveTo>
                    <a:pt x="0" y="598424"/>
                  </a:moveTo>
                  <a:cubicBezTo>
                    <a:pt x="0" y="267970"/>
                    <a:pt x="269875" y="0"/>
                    <a:pt x="602742" y="0"/>
                  </a:cubicBezTo>
                  <a:lnTo>
                    <a:pt x="6328664" y="0"/>
                  </a:lnTo>
                  <a:cubicBezTo>
                    <a:pt x="6661531" y="0"/>
                    <a:pt x="6931406" y="267970"/>
                    <a:pt x="6931406" y="598424"/>
                  </a:cubicBezTo>
                  <a:lnTo>
                    <a:pt x="6931406" y="2378075"/>
                  </a:lnTo>
                  <a:cubicBezTo>
                    <a:pt x="6931406" y="2708529"/>
                    <a:pt x="6661531" y="2976499"/>
                    <a:pt x="6328664" y="2976499"/>
                  </a:cubicBezTo>
                  <a:lnTo>
                    <a:pt x="602742" y="2976499"/>
                  </a:lnTo>
                  <a:cubicBezTo>
                    <a:pt x="269875" y="2976499"/>
                    <a:pt x="0" y="2708529"/>
                    <a:pt x="0" y="2378075"/>
                  </a:cubicBezTo>
                  <a:close/>
                </a:path>
              </a:pathLst>
            </a:custGeom>
            <a:solidFill>
              <a:srgbClr val="F3F3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69506" cy="3014599"/>
            </a:xfrm>
            <a:custGeom>
              <a:avLst/>
              <a:gdLst/>
              <a:ahLst/>
              <a:cxnLst/>
              <a:rect r="r" b="b" t="t" l="l"/>
              <a:pathLst>
                <a:path h="3014599" w="6969506">
                  <a:moveTo>
                    <a:pt x="0" y="617474"/>
                  </a:moveTo>
                  <a:cubicBezTo>
                    <a:pt x="0" y="276352"/>
                    <a:pt x="278511" y="0"/>
                    <a:pt x="621792" y="0"/>
                  </a:cubicBezTo>
                  <a:lnTo>
                    <a:pt x="6347714" y="0"/>
                  </a:lnTo>
                  <a:lnTo>
                    <a:pt x="6347714" y="19050"/>
                  </a:lnTo>
                  <a:lnTo>
                    <a:pt x="6347714" y="0"/>
                  </a:lnTo>
                  <a:cubicBezTo>
                    <a:pt x="6690995" y="0"/>
                    <a:pt x="6969506" y="276352"/>
                    <a:pt x="6969506" y="617474"/>
                  </a:cubicBezTo>
                  <a:lnTo>
                    <a:pt x="6950456" y="617474"/>
                  </a:lnTo>
                  <a:lnTo>
                    <a:pt x="6969506" y="617474"/>
                  </a:lnTo>
                  <a:lnTo>
                    <a:pt x="6969506" y="2397125"/>
                  </a:lnTo>
                  <a:lnTo>
                    <a:pt x="6950456" y="2397125"/>
                  </a:lnTo>
                  <a:lnTo>
                    <a:pt x="6969506" y="2397125"/>
                  </a:lnTo>
                  <a:cubicBezTo>
                    <a:pt x="6969506" y="2738247"/>
                    <a:pt x="6690995" y="3014599"/>
                    <a:pt x="6347714" y="3014599"/>
                  </a:cubicBezTo>
                  <a:lnTo>
                    <a:pt x="6347714" y="2995549"/>
                  </a:lnTo>
                  <a:lnTo>
                    <a:pt x="6347714" y="3014599"/>
                  </a:lnTo>
                  <a:lnTo>
                    <a:pt x="621792" y="3014599"/>
                  </a:lnTo>
                  <a:lnTo>
                    <a:pt x="621792" y="2995549"/>
                  </a:lnTo>
                  <a:lnTo>
                    <a:pt x="621792" y="3014599"/>
                  </a:lnTo>
                  <a:cubicBezTo>
                    <a:pt x="278511" y="3014726"/>
                    <a:pt x="0" y="2738374"/>
                    <a:pt x="0" y="2397125"/>
                  </a:cubicBezTo>
                  <a:lnTo>
                    <a:pt x="0" y="617474"/>
                  </a:lnTo>
                  <a:lnTo>
                    <a:pt x="19050" y="617474"/>
                  </a:lnTo>
                  <a:lnTo>
                    <a:pt x="0" y="617474"/>
                  </a:lnTo>
                  <a:moveTo>
                    <a:pt x="38100" y="617474"/>
                  </a:moveTo>
                  <a:lnTo>
                    <a:pt x="38100" y="2397125"/>
                  </a:lnTo>
                  <a:lnTo>
                    <a:pt x="19050" y="2397125"/>
                  </a:lnTo>
                  <a:lnTo>
                    <a:pt x="38100" y="2397125"/>
                  </a:lnTo>
                  <a:cubicBezTo>
                    <a:pt x="38100" y="2717038"/>
                    <a:pt x="299339" y="2976499"/>
                    <a:pt x="621792" y="2976499"/>
                  </a:cubicBezTo>
                  <a:lnTo>
                    <a:pt x="6347714" y="2976499"/>
                  </a:lnTo>
                  <a:cubicBezTo>
                    <a:pt x="6670294" y="2976499"/>
                    <a:pt x="6931406" y="2716911"/>
                    <a:pt x="6931406" y="2397125"/>
                  </a:cubicBezTo>
                  <a:lnTo>
                    <a:pt x="6931406" y="617474"/>
                  </a:lnTo>
                  <a:cubicBezTo>
                    <a:pt x="6931406" y="297688"/>
                    <a:pt x="6670167" y="38100"/>
                    <a:pt x="6347714" y="38100"/>
                  </a:cubicBezTo>
                  <a:lnTo>
                    <a:pt x="621792" y="38100"/>
                  </a:lnTo>
                  <a:lnTo>
                    <a:pt x="621792" y="19050"/>
                  </a:lnTo>
                  <a:lnTo>
                    <a:pt x="621792" y="38100"/>
                  </a:lnTo>
                  <a:cubicBezTo>
                    <a:pt x="299339" y="38100"/>
                    <a:pt x="38100" y="297688"/>
                    <a:pt x="38100" y="617474"/>
                  </a:cubicBezTo>
                  <a:close/>
                </a:path>
              </a:pathLst>
            </a:custGeom>
            <a:solidFill>
              <a:srgbClr val="DA33B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70003" y="4048716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Polymorphism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70003" y="4591945"/>
            <a:ext cx="4543130" cy="105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Methods behave differently based on input (status, ID)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32872" y="6257334"/>
            <a:ext cx="7975844" cy="1782213"/>
            <a:chOff x="0" y="0"/>
            <a:chExt cx="10634459" cy="23762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10596373" cy="2338070"/>
            </a:xfrm>
            <a:custGeom>
              <a:avLst/>
              <a:gdLst/>
              <a:ahLst/>
              <a:cxnLst/>
              <a:rect r="r" b="b" t="t" l="l"/>
              <a:pathLst>
                <a:path h="2338070" w="10596373">
                  <a:moveTo>
                    <a:pt x="0" y="598424"/>
                  </a:moveTo>
                  <a:cubicBezTo>
                    <a:pt x="0" y="267970"/>
                    <a:pt x="271272" y="0"/>
                    <a:pt x="606044" y="0"/>
                  </a:cubicBezTo>
                  <a:lnTo>
                    <a:pt x="9990328" y="0"/>
                  </a:lnTo>
                  <a:cubicBezTo>
                    <a:pt x="10324973" y="0"/>
                    <a:pt x="10596373" y="267970"/>
                    <a:pt x="10596373" y="598424"/>
                  </a:cubicBezTo>
                  <a:lnTo>
                    <a:pt x="10596373" y="1739646"/>
                  </a:lnTo>
                  <a:cubicBezTo>
                    <a:pt x="10596373" y="2070227"/>
                    <a:pt x="10325100" y="2338070"/>
                    <a:pt x="9990328" y="2338070"/>
                  </a:cubicBezTo>
                  <a:lnTo>
                    <a:pt x="606044" y="2338070"/>
                  </a:lnTo>
                  <a:cubicBezTo>
                    <a:pt x="271399" y="2338070"/>
                    <a:pt x="0" y="2070100"/>
                    <a:pt x="0" y="1739646"/>
                  </a:cubicBezTo>
                  <a:close/>
                </a:path>
              </a:pathLst>
            </a:custGeom>
            <a:solidFill>
              <a:srgbClr val="F3F3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34473" cy="2376170"/>
            </a:xfrm>
            <a:custGeom>
              <a:avLst/>
              <a:gdLst/>
              <a:ahLst/>
              <a:cxnLst/>
              <a:rect r="r" b="b" t="t" l="l"/>
              <a:pathLst>
                <a:path h="2376170" w="10634473">
                  <a:moveTo>
                    <a:pt x="0" y="617474"/>
                  </a:moveTo>
                  <a:cubicBezTo>
                    <a:pt x="0" y="276225"/>
                    <a:pt x="280035" y="0"/>
                    <a:pt x="625094" y="0"/>
                  </a:cubicBezTo>
                  <a:lnTo>
                    <a:pt x="10009378" y="0"/>
                  </a:lnTo>
                  <a:lnTo>
                    <a:pt x="10009378" y="19050"/>
                  </a:lnTo>
                  <a:lnTo>
                    <a:pt x="10009378" y="0"/>
                  </a:lnTo>
                  <a:cubicBezTo>
                    <a:pt x="10354437" y="0"/>
                    <a:pt x="10634473" y="276225"/>
                    <a:pt x="10634473" y="617474"/>
                  </a:cubicBezTo>
                  <a:lnTo>
                    <a:pt x="10615423" y="617474"/>
                  </a:lnTo>
                  <a:lnTo>
                    <a:pt x="10634473" y="617474"/>
                  </a:lnTo>
                  <a:lnTo>
                    <a:pt x="10634473" y="1758696"/>
                  </a:lnTo>
                  <a:lnTo>
                    <a:pt x="10615423" y="1758696"/>
                  </a:lnTo>
                  <a:lnTo>
                    <a:pt x="10634473" y="1758696"/>
                  </a:lnTo>
                  <a:cubicBezTo>
                    <a:pt x="10634473" y="2099945"/>
                    <a:pt x="10354437" y="2376170"/>
                    <a:pt x="10009378" y="2376170"/>
                  </a:cubicBezTo>
                  <a:lnTo>
                    <a:pt x="10009378" y="2357120"/>
                  </a:lnTo>
                  <a:lnTo>
                    <a:pt x="10009378" y="2376170"/>
                  </a:lnTo>
                  <a:lnTo>
                    <a:pt x="625094" y="2376170"/>
                  </a:lnTo>
                  <a:lnTo>
                    <a:pt x="625094" y="2357120"/>
                  </a:lnTo>
                  <a:lnTo>
                    <a:pt x="625094" y="2376170"/>
                  </a:lnTo>
                  <a:cubicBezTo>
                    <a:pt x="280035" y="2376297"/>
                    <a:pt x="0" y="2100072"/>
                    <a:pt x="0" y="1758823"/>
                  </a:cubicBezTo>
                  <a:lnTo>
                    <a:pt x="0" y="617474"/>
                  </a:lnTo>
                  <a:lnTo>
                    <a:pt x="19050" y="617474"/>
                  </a:lnTo>
                  <a:lnTo>
                    <a:pt x="0" y="617474"/>
                  </a:lnTo>
                  <a:moveTo>
                    <a:pt x="38100" y="617474"/>
                  </a:moveTo>
                  <a:lnTo>
                    <a:pt x="38100" y="1758696"/>
                  </a:lnTo>
                  <a:lnTo>
                    <a:pt x="19050" y="1758696"/>
                  </a:lnTo>
                  <a:lnTo>
                    <a:pt x="38100" y="1758696"/>
                  </a:lnTo>
                  <a:cubicBezTo>
                    <a:pt x="38100" y="2078482"/>
                    <a:pt x="300736" y="2338070"/>
                    <a:pt x="625094" y="2338070"/>
                  </a:cubicBezTo>
                  <a:lnTo>
                    <a:pt x="10009378" y="2338070"/>
                  </a:lnTo>
                  <a:cubicBezTo>
                    <a:pt x="10333736" y="2338070"/>
                    <a:pt x="10596373" y="2078482"/>
                    <a:pt x="10596373" y="1758696"/>
                  </a:cubicBezTo>
                  <a:lnTo>
                    <a:pt x="10596373" y="617474"/>
                  </a:lnTo>
                  <a:cubicBezTo>
                    <a:pt x="10596372" y="297688"/>
                    <a:pt x="10333736" y="38100"/>
                    <a:pt x="10009378" y="38100"/>
                  </a:cubicBezTo>
                  <a:lnTo>
                    <a:pt x="625094" y="38100"/>
                  </a:lnTo>
                  <a:lnTo>
                    <a:pt x="625094" y="19050"/>
                  </a:lnTo>
                  <a:lnTo>
                    <a:pt x="625094" y="38100"/>
                  </a:lnTo>
                  <a:cubicBezTo>
                    <a:pt x="300736" y="38100"/>
                    <a:pt x="38100" y="297688"/>
                    <a:pt x="38100" y="617474"/>
                  </a:cubicBezTo>
                  <a:close/>
                </a:path>
              </a:pathLst>
            </a:custGeom>
            <a:solidFill>
              <a:srgbClr val="2D4DF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74877" y="6580289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Encapsulation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4877" y="7123509"/>
            <a:ext cx="7291835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Private variables with getters/setters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79284" y="6257334"/>
            <a:ext cx="7975844" cy="1782213"/>
            <a:chOff x="0" y="0"/>
            <a:chExt cx="10634459" cy="23762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9050" y="19050"/>
              <a:ext cx="10596373" cy="2338070"/>
            </a:xfrm>
            <a:custGeom>
              <a:avLst/>
              <a:gdLst/>
              <a:ahLst/>
              <a:cxnLst/>
              <a:rect r="r" b="b" t="t" l="l"/>
              <a:pathLst>
                <a:path h="2338070" w="10596373">
                  <a:moveTo>
                    <a:pt x="0" y="598424"/>
                  </a:moveTo>
                  <a:cubicBezTo>
                    <a:pt x="0" y="267970"/>
                    <a:pt x="271272" y="0"/>
                    <a:pt x="606044" y="0"/>
                  </a:cubicBezTo>
                  <a:lnTo>
                    <a:pt x="9990328" y="0"/>
                  </a:lnTo>
                  <a:cubicBezTo>
                    <a:pt x="10324973" y="0"/>
                    <a:pt x="10596373" y="267970"/>
                    <a:pt x="10596373" y="598424"/>
                  </a:cubicBezTo>
                  <a:lnTo>
                    <a:pt x="10596373" y="1739646"/>
                  </a:lnTo>
                  <a:cubicBezTo>
                    <a:pt x="10596373" y="2070227"/>
                    <a:pt x="10325100" y="2338070"/>
                    <a:pt x="9990328" y="2338070"/>
                  </a:cubicBezTo>
                  <a:lnTo>
                    <a:pt x="606044" y="2338070"/>
                  </a:lnTo>
                  <a:cubicBezTo>
                    <a:pt x="271399" y="2338070"/>
                    <a:pt x="0" y="2070100"/>
                    <a:pt x="0" y="1739646"/>
                  </a:cubicBezTo>
                  <a:close/>
                </a:path>
              </a:pathLst>
            </a:custGeom>
            <a:solidFill>
              <a:srgbClr val="F3F3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34473" cy="2376170"/>
            </a:xfrm>
            <a:custGeom>
              <a:avLst/>
              <a:gdLst/>
              <a:ahLst/>
              <a:cxnLst/>
              <a:rect r="r" b="b" t="t" l="l"/>
              <a:pathLst>
                <a:path h="2376170" w="10634473">
                  <a:moveTo>
                    <a:pt x="0" y="617474"/>
                  </a:moveTo>
                  <a:cubicBezTo>
                    <a:pt x="0" y="276225"/>
                    <a:pt x="280035" y="0"/>
                    <a:pt x="625094" y="0"/>
                  </a:cubicBezTo>
                  <a:lnTo>
                    <a:pt x="10009378" y="0"/>
                  </a:lnTo>
                  <a:lnTo>
                    <a:pt x="10009378" y="19050"/>
                  </a:lnTo>
                  <a:lnTo>
                    <a:pt x="10009378" y="0"/>
                  </a:lnTo>
                  <a:cubicBezTo>
                    <a:pt x="10354437" y="0"/>
                    <a:pt x="10634473" y="276225"/>
                    <a:pt x="10634473" y="617474"/>
                  </a:cubicBezTo>
                  <a:lnTo>
                    <a:pt x="10615423" y="617474"/>
                  </a:lnTo>
                  <a:lnTo>
                    <a:pt x="10634473" y="617474"/>
                  </a:lnTo>
                  <a:lnTo>
                    <a:pt x="10634473" y="1758696"/>
                  </a:lnTo>
                  <a:lnTo>
                    <a:pt x="10615423" y="1758696"/>
                  </a:lnTo>
                  <a:lnTo>
                    <a:pt x="10634473" y="1758696"/>
                  </a:lnTo>
                  <a:cubicBezTo>
                    <a:pt x="10634473" y="2099945"/>
                    <a:pt x="10354437" y="2376170"/>
                    <a:pt x="10009378" y="2376170"/>
                  </a:cubicBezTo>
                  <a:lnTo>
                    <a:pt x="10009378" y="2357120"/>
                  </a:lnTo>
                  <a:lnTo>
                    <a:pt x="10009378" y="2376170"/>
                  </a:lnTo>
                  <a:lnTo>
                    <a:pt x="625094" y="2376170"/>
                  </a:lnTo>
                  <a:lnTo>
                    <a:pt x="625094" y="2357120"/>
                  </a:lnTo>
                  <a:lnTo>
                    <a:pt x="625094" y="2376170"/>
                  </a:lnTo>
                  <a:cubicBezTo>
                    <a:pt x="280035" y="2376297"/>
                    <a:pt x="0" y="2100072"/>
                    <a:pt x="0" y="1758823"/>
                  </a:cubicBezTo>
                  <a:lnTo>
                    <a:pt x="0" y="617474"/>
                  </a:lnTo>
                  <a:lnTo>
                    <a:pt x="19050" y="617474"/>
                  </a:lnTo>
                  <a:lnTo>
                    <a:pt x="0" y="617474"/>
                  </a:lnTo>
                  <a:moveTo>
                    <a:pt x="38100" y="617474"/>
                  </a:moveTo>
                  <a:lnTo>
                    <a:pt x="38100" y="1758696"/>
                  </a:lnTo>
                  <a:lnTo>
                    <a:pt x="19050" y="1758696"/>
                  </a:lnTo>
                  <a:lnTo>
                    <a:pt x="38100" y="1758696"/>
                  </a:lnTo>
                  <a:cubicBezTo>
                    <a:pt x="38100" y="2078482"/>
                    <a:pt x="300736" y="2338070"/>
                    <a:pt x="625094" y="2338070"/>
                  </a:cubicBezTo>
                  <a:lnTo>
                    <a:pt x="10009378" y="2338070"/>
                  </a:lnTo>
                  <a:cubicBezTo>
                    <a:pt x="10333736" y="2338070"/>
                    <a:pt x="10596373" y="2078482"/>
                    <a:pt x="10596373" y="1758696"/>
                  </a:cubicBezTo>
                  <a:lnTo>
                    <a:pt x="10596373" y="617474"/>
                  </a:lnTo>
                  <a:cubicBezTo>
                    <a:pt x="10596372" y="297688"/>
                    <a:pt x="10333736" y="38100"/>
                    <a:pt x="10009378" y="38100"/>
                  </a:cubicBezTo>
                  <a:lnTo>
                    <a:pt x="625094" y="38100"/>
                  </a:lnTo>
                  <a:lnTo>
                    <a:pt x="625094" y="19050"/>
                  </a:lnTo>
                  <a:lnTo>
                    <a:pt x="625094" y="38100"/>
                  </a:lnTo>
                  <a:cubicBezTo>
                    <a:pt x="300736" y="38100"/>
                    <a:pt x="38100" y="297688"/>
                    <a:pt x="38100" y="617474"/>
                  </a:cubicBezTo>
                  <a:close/>
                </a:path>
              </a:pathLst>
            </a:custGeom>
            <a:solidFill>
              <a:srgbClr val="018CE1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21288" y="6580289"/>
            <a:ext cx="3520230" cy="45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Design Pattern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21288" y="7123509"/>
            <a:ext cx="7291835" cy="57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Layered Architecture (UI → Service → DAO)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9" y="1275607"/>
            <a:ext cx="7040613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DA33BF"/>
                </a:solidFill>
                <a:latin typeface="Nunito Bold"/>
                <a:ea typeface="Nunito Bold"/>
                <a:cs typeface="Nunito Bold"/>
                <a:sym typeface="Nunito Bold"/>
              </a:rPr>
              <a:t>Technical Highlight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9" y="2284809"/>
            <a:ext cx="5725716" cy="54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Attendance Calculation Logic: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9" y="3175692"/>
            <a:ext cx="16193691" cy="70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7" b="true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Attendance % = (Present Classes / Total Classes) × 100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9" y="4308424"/>
            <a:ext cx="4224338" cy="54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Why Chosen: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9" y="5208832"/>
            <a:ext cx="16193691" cy="1740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Simple and efficient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Works for all data sizes</a:t>
            </a:r>
          </a:p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Helps identify low attendance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9" y="7379341"/>
            <a:ext cx="4224338" cy="54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Extra Feature: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159" y="8270234"/>
            <a:ext cx="16193691" cy="71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7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⚠</a:t>
            </a:r>
            <a:r>
              <a:rPr lang="en-US" sz="2937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Warning shown if attendance &lt; 75%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7579" y="1022594"/>
            <a:ext cx="6034678" cy="77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2D4DF2"/>
                </a:solidFill>
                <a:latin typeface="Nunito Bold"/>
                <a:ea typeface="Nunito Bold"/>
                <a:cs typeface="Nunito Bold"/>
                <a:sym typeface="Nunito Bold"/>
              </a:rPr>
              <a:t>Live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7579" y="1864671"/>
            <a:ext cx="3620843" cy="47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Working System: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7579" y="2608812"/>
            <a:ext cx="16492833" cy="181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Add Student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Mark Attendance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Show Students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Calculate Percentage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7579" y="4730353"/>
            <a:ext cx="3620843" cy="47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Example Scenario: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7579" y="5474494"/>
            <a:ext cx="16492833" cy="136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Student Rahul → 2 classes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1 Present → 50% attendance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⚠</a:t>
            </a: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Warning displayed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7579" y="7147922"/>
            <a:ext cx="3620843" cy="47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true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Error Handling: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579" y="7892053"/>
            <a:ext cx="16492833" cy="135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Invalid ID → "Student not found"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Empty input → "All fields required"</a:t>
            </a:r>
          </a:p>
          <a:p>
            <a:pPr algn="l" marL="301625" indent="-150812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Wrong input → "Invalid option"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3656" y="0"/>
            <a:ext cx="14820688" cy="10287000"/>
            <a:chOff x="0" y="0"/>
            <a:chExt cx="19760917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60916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760916">
                  <a:moveTo>
                    <a:pt x="0" y="0"/>
                  </a:moveTo>
                  <a:lnTo>
                    <a:pt x="19760916" y="0"/>
                  </a:lnTo>
                  <a:lnTo>
                    <a:pt x="1976091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5" t="-448" r="0" b="-44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DAHFWS8B8ts</dc:identifier>
  <dcterms:modified xsi:type="dcterms:W3CDTF">2011-08-01T06:04:30Z</dcterms:modified>
  <cp:revision>1</cp:revision>
  <dc:title>Student-Attendance-Management-System (3).pptx</dc:title>
</cp:coreProperties>
</file>